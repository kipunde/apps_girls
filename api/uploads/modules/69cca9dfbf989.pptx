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7" r:id="rId6"/>
    <p:sldId id="271" r:id="rId7"/>
    <p:sldId id="272" r:id="rId8"/>
    <p:sldId id="287" r:id="rId9"/>
    <p:sldId id="288" r:id="rId10"/>
    <p:sldId id="289" r:id="rId11"/>
    <p:sldId id="273" r:id="rId12"/>
    <p:sldId id="278" r:id="rId13"/>
    <p:sldId id="280" r:id="rId14"/>
    <p:sldId id="281" r:id="rId15"/>
    <p:sldId id="274" r:id="rId16"/>
    <p:sldId id="275" r:id="rId17"/>
    <p:sldId id="276" r:id="rId18"/>
    <p:sldId id="277" r:id="rId19"/>
    <p:sldId id="282" r:id="rId20"/>
    <p:sldId id="283" r:id="rId21"/>
    <p:sldId id="284" r:id="rId22"/>
    <p:sldId id="286" r:id="rId23"/>
    <p:sldId id="285" r:id="rId24"/>
    <p:sldId id="290" r:id="rId25"/>
    <p:sldId id="291" r:id="rId26"/>
    <p:sldId id="292" r:id="rId27"/>
    <p:sldId id="293" r:id="rId28"/>
    <p:sldId id="295" r:id="rId29"/>
    <p:sldId id="296" r:id="rId30"/>
    <p:sldId id="297" r:id="rId31"/>
    <p:sldId id="298" r:id="rId32"/>
    <p:sldId id="29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61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12/8/2025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12/8/2025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12/8/2025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29092" y="2292094"/>
            <a:ext cx="6709857" cy="2219691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EQA Digital Platform: Coordinator Training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29092" y="4120179"/>
            <a:ext cx="5734050" cy="1196563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Building Proficiency in PT Management</a:t>
            </a:r>
          </a:p>
          <a:p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Prepared by: Ubunifu Solutions Limited</a:t>
            </a:r>
          </a:p>
          <a:p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08-12-2025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Workshop Agenda &amp; Objectives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Today's Journey: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800" b="1" dirty="0"/>
              <a:t>Module 1: The Coordinator’s Role &amp; The System Basics</a:t>
            </a:r>
            <a:r>
              <a:rPr lang="en-US" sz="1800" dirty="0"/>
              <a:t> – Understanding your permissions and how to navigate.</a:t>
            </a:r>
          </a:p>
          <a:p>
            <a:pPr lvl="1">
              <a:lnSpc>
                <a:spcPct val="150000"/>
              </a:lnSpc>
            </a:pPr>
            <a:r>
              <a:rPr lang="en-US" sz="1800" b="1" dirty="0"/>
              <a:t>Module 2: Building Your PT Program</a:t>
            </a:r>
            <a:r>
              <a:rPr lang="en-US" sz="1800" dirty="0"/>
              <a:t> – Creating schemes, setting the calendar, and defining sample rounds.</a:t>
            </a:r>
          </a:p>
          <a:p>
            <a:pPr lvl="1">
              <a:lnSpc>
                <a:spcPct val="150000"/>
              </a:lnSpc>
            </a:pPr>
            <a:r>
              <a:rPr lang="en-US" sz="1800" b="1" dirty="0"/>
              <a:t>Module 3: The "Answer Key" &amp; Launching a Round</a:t>
            </a:r>
            <a:r>
              <a:rPr lang="en-US" sz="1800" dirty="0"/>
              <a:t> – Setting expected results and activating rounds for labs.</a:t>
            </a:r>
          </a:p>
          <a:p>
            <a:pPr lvl="1">
              <a:lnSpc>
                <a:spcPct val="150000"/>
              </a:lnSpc>
            </a:pPr>
            <a:r>
              <a:rPr lang="en-US" sz="1800" b="1" dirty="0"/>
              <a:t>Module 4: Evaluation, Feedback, &amp; Reporting</a:t>
            </a:r>
            <a:r>
              <a:rPr lang="en-US" sz="1800" dirty="0"/>
              <a:t> – Scoring results, releasing feedback, and using data.</a:t>
            </a:r>
          </a:p>
          <a:p>
            <a:pPr lvl="1">
              <a:lnSpc>
                <a:spcPct val="150000"/>
              </a:lnSpc>
            </a:pPr>
            <a:r>
              <a:rPr lang="en-US" sz="1800" b="1" dirty="0"/>
              <a:t>Quiz,&amp; Practical Exercises </a:t>
            </a:r>
            <a:endParaRPr lang="en-US" sz="1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2BAA-E559-4610-1534-6D93E38F0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514843"/>
                </a:solidFill>
              </a:rPr>
              <a:t>Workshop Agenda &amp; Objectives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6B585-FC3B-F935-F993-C2A596FBC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By the end of this day, you will be able to: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dirty="0"/>
              <a:t>Configure a new PT scheme and schedule its activities.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Set up a PT round with samples and expected results.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Activate a round and manage participant applications.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Evaluate submitted results and provide automated feedback.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Generate key reports for program monitoring.</a:t>
            </a:r>
            <a:br>
              <a:rPr lang="en-US" dirty="0"/>
            </a:b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41925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5072-8E31-330D-18C7-0C690D1A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1 - The Coordinator's Command Center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2C105-7CB2-7037-353A-211A5CBAA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Your Primary Role:</a:t>
            </a:r>
            <a:r>
              <a:rPr lang="en-US" sz="1800" dirty="0"/>
              <a:t> The operational manager of the PT lifecycle.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Key Responsibilities</a:t>
            </a:r>
            <a:r>
              <a:rPr lang="en-US" b="1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Managing users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Manage PT Schemes &amp; Calendar.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Enroll and approve laboratories.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Configure samples and expected results.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Evaluate performance and authorize scores.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Monitor compliance and generate reports.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Logging In:</a:t>
            </a:r>
            <a:r>
              <a:rPr lang="en-US" sz="1800" dirty="0"/>
              <a:t> Access via browser using your secure credentials.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45079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D722C-D03A-790E-6EFF-A8D5FD14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2 – Managing users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DF846-4965-D4BB-04B9-7E8FE7B14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Purpose:</a:t>
            </a:r>
            <a:r>
              <a:rPr lang="en-US" sz="1800" dirty="0"/>
              <a:t> To register laboratory staff in the system and grant them appropriate access.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PART ONE: Create the User Profile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b="1" dirty="0"/>
              <a:t>Path:</a:t>
            </a:r>
            <a:r>
              <a:rPr lang="en-US" dirty="0"/>
              <a:t> Administrative Tasks &gt; Manage User &gt; Add New User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Action:</a:t>
            </a:r>
            <a:r>
              <a:rPr lang="en-US" dirty="0"/>
              <a:t> Enter the user's personal details and, </a:t>
            </a:r>
            <a:r>
              <a:rPr lang="en-US" b="1" dirty="0"/>
              <a:t>critically</a:t>
            </a:r>
            <a:r>
              <a:rPr lang="en-US" dirty="0"/>
              <a:t>, select their: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Facility</a:t>
            </a:r>
            <a:r>
              <a:rPr lang="en-US" dirty="0"/>
              <a:t> (e.g., Kibosho HC)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Cadre</a:t>
            </a:r>
            <a:r>
              <a:rPr lang="en-US" dirty="0"/>
              <a:t> (e.g., Laboratory Technologist)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Click </a:t>
            </a:r>
            <a:r>
              <a:rPr lang="en-US" sz="1800" b="1" dirty="0"/>
              <a:t>Save</a:t>
            </a:r>
            <a:r>
              <a:rPr lang="en-US" sz="1800" dirty="0"/>
              <a:t>. This creates the account.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08144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D824-CD1E-42C3-92D7-5EC52245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2 – Managing users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67B05-2ABF-6C7C-1145-4E43AE40A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PART TWO: Assign the System Role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dirty="0"/>
              <a:t>In the Manage User list, find the new user.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Click Assign roles for that user.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Select the appropriate </a:t>
            </a:r>
            <a:r>
              <a:rPr lang="en-US" b="1" dirty="0"/>
              <a:t>system role</a:t>
            </a:r>
            <a:r>
              <a:rPr lang="en-US" dirty="0"/>
              <a:t> (e.g., Laboratory Manager, Tester).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Click </a:t>
            </a:r>
            <a:r>
              <a:rPr lang="en-US" b="1" dirty="0"/>
              <a:t>Assign</a:t>
            </a:r>
            <a:r>
              <a:rPr lang="en-US" dirty="0"/>
              <a:t>. This grants them permissions to specific modules.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br>
              <a:rPr lang="en-US" dirty="0"/>
            </a:b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06241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85AF-77DE-1BE5-4BB7-A93E9B5F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2 – Managing users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66EEB-C9E0-C5D2-889C-E5C441448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Hands-On Exercise 1: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dirty="0"/>
              <a:t>Create a user profile for </a:t>
            </a:r>
            <a:r>
              <a:rPr lang="en-US" b="1" dirty="0"/>
              <a:t>"Dr. Jane Mushi"</a:t>
            </a:r>
            <a:r>
              <a:rPr lang="en-US" dirty="0"/>
              <a:t>, assigning her to </a:t>
            </a:r>
            <a:r>
              <a:rPr lang="en-US" b="1" dirty="0"/>
              <a:t>"Aghakan Hospital"</a:t>
            </a:r>
            <a:r>
              <a:rPr lang="en-US" dirty="0"/>
              <a:t> with the </a:t>
            </a:r>
            <a:r>
              <a:rPr lang="en-US" b="1" dirty="0"/>
              <a:t>“Laboratory Technologist"</a:t>
            </a:r>
            <a:r>
              <a:rPr lang="en-US" dirty="0"/>
              <a:t> cadre.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Find Dr. Mushi in the user list and assign her the Laboratory Manager role.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Objective: Master the complete process of onboarding a lab manager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93351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C428-6E46-F3DC-5213-E653F2A9A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2 - Building Your PT Program: Schemes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4FDB-BE0D-0FC0-9793-914F807FB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What is a PT Scheme?</a:t>
            </a:r>
            <a:r>
              <a:rPr lang="en-US" sz="1900" dirty="0"/>
              <a:t> The container for a specific test program (e.g., HIV-TEST-2025).</a:t>
            </a:r>
          </a:p>
          <a:p>
            <a:pPr>
              <a:lnSpc>
                <a:spcPct val="150000"/>
              </a:lnSpc>
            </a:pPr>
            <a:r>
              <a:rPr lang="en-US" sz="1900" b="1" dirty="0"/>
              <a:t>Demo &amp; Path:</a:t>
            </a:r>
            <a:r>
              <a:rPr lang="en-US" sz="1900" dirty="0"/>
              <a:t> </a:t>
            </a:r>
            <a:r>
              <a:rPr lang="en-US" sz="1900" b="1" dirty="0"/>
              <a:t>EQA Management &gt; PT Scheme &gt; Add New Scheme</a:t>
            </a:r>
          </a:p>
          <a:p>
            <a:pPr>
              <a:lnSpc>
                <a:spcPct val="150000"/>
              </a:lnSpc>
            </a:pPr>
            <a:r>
              <a:rPr lang="en-US" sz="1900" b="1" dirty="0"/>
              <a:t>Key Fields:</a:t>
            </a:r>
            <a:endParaRPr lang="en-US" sz="1900" dirty="0"/>
          </a:p>
          <a:p>
            <a:pPr lvl="1">
              <a:lnSpc>
                <a:spcPct val="150000"/>
              </a:lnSpc>
            </a:pPr>
            <a:r>
              <a:rPr lang="en-US" sz="1700" dirty="0"/>
              <a:t>Scheme Name : (HIV-TEST-2025)</a:t>
            </a:r>
          </a:p>
          <a:p>
            <a:pPr lvl="1">
              <a:lnSpc>
                <a:spcPct val="150000"/>
              </a:lnSpc>
            </a:pPr>
            <a:r>
              <a:rPr lang="en-US" sz="1700" dirty="0"/>
              <a:t>Examination: HIV</a:t>
            </a:r>
          </a:p>
          <a:p>
            <a:pPr lvl="1">
              <a:lnSpc>
                <a:spcPct val="150000"/>
              </a:lnSpc>
            </a:pPr>
            <a:r>
              <a:rPr lang="en-US" sz="1700" dirty="0"/>
              <a:t>Test Parameter: HIV</a:t>
            </a:r>
          </a:p>
          <a:p>
            <a:pPr lvl="1">
              <a:lnSpc>
                <a:spcPct val="150000"/>
              </a:lnSpc>
            </a:pPr>
            <a:r>
              <a:rPr lang="en-US" sz="1700" dirty="0"/>
              <a:t>Description</a:t>
            </a:r>
          </a:p>
          <a:p>
            <a:pPr>
              <a:lnSpc>
                <a:spcPct val="150000"/>
              </a:lnSpc>
            </a:pPr>
            <a:r>
              <a:rPr lang="en-US" sz="1900" b="1" dirty="0"/>
              <a:t>Hands-On Exercise 2:</a:t>
            </a:r>
            <a:r>
              <a:rPr lang="en-US" sz="1900" dirty="0"/>
              <a:t> Create the HEID-TEST-2025 scheme.</a:t>
            </a:r>
          </a:p>
          <a:p>
            <a:pPr lvl="1">
              <a:lnSpc>
                <a:spcPct val="150000"/>
              </a:lnSpc>
            </a:pPr>
            <a:r>
              <a:rPr lang="en-US" sz="1700" i="1" dirty="0"/>
              <a:t>Objective: Learn to define a new testing program.</a:t>
            </a:r>
            <a:br>
              <a:rPr lang="en-US" dirty="0"/>
            </a:b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7360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D6F2-0336-1019-C275-A075347F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b="1" dirty="0"/>
            </a:br>
            <a:r>
              <a:rPr lang="en-US" b="1" dirty="0"/>
              <a:t>Module 2: Configuring the Scheme - Setting Allowable Results &amp; Template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726B6-565F-B938-340F-33F275968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Purpose:</a:t>
            </a:r>
            <a:r>
              <a:rPr lang="en-US" sz="1800" dirty="0"/>
              <a:t> To control exactly which results a laboratory can submit for this specific PT scheme and provide a standard form for laboratories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PART A: Create the System-Wide Result List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b="1" dirty="0"/>
              <a:t>Path:</a:t>
            </a:r>
            <a:r>
              <a:rPr lang="en-US" dirty="0"/>
              <a:t> </a:t>
            </a:r>
            <a:r>
              <a:rPr lang="en-US" b="1" dirty="0"/>
              <a:t>EQA Management &gt; Result Interpretation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Action:</a:t>
            </a:r>
            <a:r>
              <a:rPr lang="en-US" dirty="0"/>
              <a:t> Click </a:t>
            </a:r>
            <a:r>
              <a:rPr lang="en-US" b="1" dirty="0"/>
              <a:t>Add Result Interpretation  </a:t>
            </a:r>
            <a:r>
              <a:rPr lang="en-US" dirty="0"/>
              <a:t>then </a:t>
            </a:r>
            <a:r>
              <a:rPr lang="en-US" b="1" dirty="0"/>
              <a:t>Select a Result Category</a:t>
            </a:r>
            <a:r>
              <a:rPr lang="en-US" dirty="0"/>
              <a:t> (e.g., Qualitative).Select and save all possible result names for that category (e.g., Detected, Not Detected, Positive, Negative). This builds a master list for the entire platform.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27103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9D84-D450-486D-ECD2-C1E43E7C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Module 2: Configuring the Scheme - Setting Allowable Results and Template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3029A-91CF-1C67-7825-B23A5629F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PART B: Assign Results to Your PT Scheme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b="1" dirty="0"/>
              <a:t>Path:</a:t>
            </a:r>
            <a:r>
              <a:rPr lang="en-US" dirty="0"/>
              <a:t> EQA Management &gt; PT Scheme &gt; [Your Scheme] &gt; Scheme Management &gt; Set Result Category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Action:</a:t>
            </a:r>
            <a:r>
              <a:rPr lang="en-US" dirty="0"/>
              <a:t> From the </a:t>
            </a:r>
            <a:r>
              <a:rPr lang="en-US" b="1" dirty="0"/>
              <a:t>master list created in Step 1</a:t>
            </a:r>
            <a:r>
              <a:rPr lang="en-US" dirty="0"/>
              <a:t>, </a:t>
            </a:r>
            <a:r>
              <a:rPr lang="en-US" b="1" dirty="0"/>
              <a:t>select</a:t>
            </a:r>
            <a:r>
              <a:rPr lang="en-US" dirty="0"/>
              <a:t> which results are valid for </a:t>
            </a:r>
            <a:r>
              <a:rPr lang="en-US" i="1" dirty="0"/>
              <a:t>this specific test</a:t>
            </a:r>
            <a:r>
              <a:rPr lang="en-US" dirty="0"/>
              <a:t> (e.g., for HEID-TEST-2025, select all results that this PT scheme will use).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Part C: Upload a Results Template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b="1" dirty="0"/>
              <a:t>Path:</a:t>
            </a:r>
            <a:r>
              <a:rPr lang="en-US" dirty="0"/>
              <a:t> EQA Management &gt; PT Scheme &gt; [Your Scheme] &gt; Scheme Management &gt; Upload Results Template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Action:</a:t>
            </a:r>
            <a:r>
              <a:rPr lang="en-US" dirty="0"/>
              <a:t> Upload a standardized Excel/docx file for labs to use for offline data entry.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Why?</a:t>
            </a:r>
            <a:r>
              <a:rPr lang="en-US" dirty="0"/>
              <a:t> Ensures all labs submit results in the exact format you need for easy evaluation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24595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9F4F-B0C2-4805-B593-D6271A6A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2: Configuring the Scheme - Setting Allowable Results &amp; Template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324BB-48C6-C611-F6F4-A9826B59C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Hands-On Exercise 3:</a:t>
            </a:r>
            <a:r>
              <a:rPr lang="en-US" sz="1800" dirty="0"/>
              <a:t> For your HEID-TEST-2025 scheme: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Set the result category.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Upload the provided HEID_Result_Template file.</a:t>
            </a:r>
          </a:p>
          <a:p>
            <a:pPr>
              <a:lnSpc>
                <a:spcPct val="150000"/>
              </a:lnSpc>
            </a:pPr>
            <a:r>
              <a:rPr lang="en-US" sz="1800" i="1" dirty="0"/>
              <a:t>Objective</a:t>
            </a:r>
            <a:r>
              <a:rPr lang="en-US" i="1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Fully configure a scheme for participant use.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i="1" dirty="0"/>
              <a:t>Learn to define the acceptable answers for a PT test.</a:t>
            </a:r>
            <a:endParaRPr lang="en-US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17768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FDFF0-22C9-5ECE-A320-D6062B10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3100" b="1" dirty="0"/>
              <a:t>Module 2 - The PT Calendar</a:t>
            </a:r>
            <a:endParaRPr lang="en-TZ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59B5-E414-99B1-3089-759E61A4C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Purpose:</a:t>
            </a:r>
            <a:r>
              <a:rPr lang="en-US" sz="1800" dirty="0"/>
              <a:t> The single source of truth for all deadlines.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Demo &amp; Path:</a:t>
            </a:r>
            <a:r>
              <a:rPr lang="en-US" sz="1800" dirty="0"/>
              <a:t> </a:t>
            </a:r>
            <a:r>
              <a:rPr lang="en-US" sz="1800" b="1" dirty="0"/>
              <a:t>EQA Management &gt; PT Calendar &gt; Add New PT Calendar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Key Events to Schedule: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dirty="0"/>
              <a:t>Enrollment Opens/Closes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Sample Distribution Date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Result Submission Deadline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Feedback Release Date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Best Practice:</a:t>
            </a:r>
            <a:r>
              <a:rPr lang="en-US" sz="1800" dirty="0"/>
              <a:t> Set all dates before opening enrollment.</a:t>
            </a:r>
          </a:p>
          <a:p>
            <a:pPr marL="0" indent="0">
              <a:buNone/>
            </a:pPr>
            <a:endParaRPr lang="en-US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3081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B715-0B8F-F81C-7E94-66F7F464B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2 - Creating a PT Round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9ECCB-2601-090A-6332-0541FB8F0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What is a PT Round?</a:t>
            </a:r>
            <a:r>
              <a:rPr lang="en-US" sz="1800" dirty="0"/>
              <a:t> It's a </a:t>
            </a:r>
            <a:r>
              <a:rPr lang="en-US" sz="1800" b="1" dirty="0"/>
              <a:t>specific shipment or test event</a:t>
            </a:r>
            <a:r>
              <a:rPr lang="en-US" sz="1800" dirty="0"/>
              <a:t> within a PT Scheme.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Scheme = The test type (e.g., HIV Viral Load).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Round = A specific batch of samples for that test (e.g., "Q1 2025 Samples").</a:t>
            </a:r>
            <a:r>
              <a:rPr lang="en-US" dirty="0"/>
              <a:t>*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You create a round every time you send out new samples.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Demo &amp; Path:</a:t>
            </a:r>
            <a:r>
              <a:rPr lang="en-US" sz="1800" dirty="0"/>
              <a:t> </a:t>
            </a:r>
            <a:r>
              <a:rPr lang="en-US" sz="1800" b="1" dirty="0"/>
              <a:t>EQA Management &gt; PT Scheme Round &gt; Add New PT Scheme Round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82534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5C6F-1193-E1CD-9B90-118C8EC6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2 - Creating a PT Round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DE4DB-349A-806C-DAD0-17B4D48F6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Critical Configuration: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dirty="0"/>
              <a:t>Link to Scheme (HIV-TEST-2025)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Round Code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Start/End Dates (The testing window)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Sample Labels:</a:t>
            </a:r>
            <a:r>
              <a:rPr lang="en-US" dirty="0"/>
              <a:t> A1, A2, A3 (These are the IDs on the physical vials you will mail!)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Maximum Score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Hands-On Exercise 4:</a:t>
            </a:r>
            <a:r>
              <a:rPr lang="en-US" sz="1800" dirty="0"/>
              <a:t> Create the </a:t>
            </a:r>
            <a:r>
              <a:rPr lang="en-US" sz="1800" b="1" dirty="0"/>
              <a:t>"March 2025"</a:t>
            </a:r>
            <a:r>
              <a:rPr lang="en-US" sz="1800" dirty="0"/>
              <a:t> round for your HEID-TEST-2025 scheme</a:t>
            </a:r>
            <a:r>
              <a:rPr lang="en-US" dirty="0"/>
              <a:t>..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Objective: Configure sample labels (D1, D2, D3) and timeline</a:t>
            </a:r>
            <a:endParaRPr lang="en-US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85606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BE16-4FA3-D724-8E0A-59B57FB7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3100" b="1" dirty="0"/>
              <a:t>Module 3 - Setting the "Answer Key" (Expected Results)</a:t>
            </a:r>
            <a:endParaRPr lang="en-TZ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BEFE4-DFFE-F678-AF87-7BE0A1C88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The Most Critical Step for Scoring.</a:t>
            </a:r>
            <a:r>
              <a:rPr lang="en-US" sz="1800" dirty="0"/>
              <a:t> If this is wrong, every lab's score will be wrong.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Path:</a:t>
            </a:r>
            <a:r>
              <a:rPr lang="en-US" sz="1800" dirty="0"/>
              <a:t> EQA Management &gt; Expected Test Result &gt; Add Expected Results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Process:</a:t>
            </a:r>
            <a:r>
              <a:rPr lang="en-US" sz="1800" dirty="0"/>
              <a:t> For </a:t>
            </a:r>
            <a:r>
              <a:rPr lang="en-US" sz="1800" b="1" dirty="0"/>
              <a:t>EACH sample label</a:t>
            </a:r>
            <a:r>
              <a:rPr lang="en-US" sz="1800" dirty="0"/>
              <a:t> in your round, define the target result.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Example for HIV-TEST-2025 round: Sample A1 = </a:t>
            </a:r>
            <a:r>
              <a:rPr lang="en-US" b="1" dirty="0"/>
              <a:t>20</a:t>
            </a:r>
            <a:r>
              <a:rPr lang="en-US" dirty="0"/>
              <a:t>, Sample A2 = </a:t>
            </a:r>
            <a:r>
              <a:rPr lang="en-US" b="1" dirty="0"/>
              <a:t>500</a:t>
            </a:r>
            <a:endParaRPr lang="en-US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89600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C433-5596-9BB5-5B87-EBBD122E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3 - Setting the "Answer Key" (Expected Results)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9963F-E70F-BE8F-F2CF-F93C4456D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Hands-On Exercise 5: Build the Answer Key</a:t>
            </a:r>
            <a:endParaRPr lang="en-US" sz="1900" dirty="0"/>
          </a:p>
          <a:p>
            <a:pPr>
              <a:lnSpc>
                <a:spcPct val="150000"/>
              </a:lnSpc>
            </a:pPr>
            <a:r>
              <a:rPr lang="en-US" sz="1900" dirty="0"/>
              <a:t>Navigate to Expected Test Result.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For your </a:t>
            </a:r>
            <a:r>
              <a:rPr lang="en-US" sz="1900" b="1" dirty="0"/>
              <a:t>HEID-TEST-2025</a:t>
            </a:r>
            <a:r>
              <a:rPr lang="en-US" sz="1900" dirty="0"/>
              <a:t> round, add the Expected Result for </a:t>
            </a:r>
            <a:r>
              <a:rPr lang="en-US" sz="1900" b="1" dirty="0"/>
              <a:t>each sample</a:t>
            </a:r>
            <a:r>
              <a:rPr lang="en-US" sz="19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1700" dirty="0"/>
              <a:t>Sample D1 = </a:t>
            </a:r>
            <a:r>
              <a:rPr lang="en-US" sz="1700" b="1" dirty="0"/>
              <a:t>Detected</a:t>
            </a:r>
            <a:endParaRPr lang="en-US" sz="1700" dirty="0"/>
          </a:p>
          <a:p>
            <a:pPr lvl="1">
              <a:lnSpc>
                <a:spcPct val="150000"/>
              </a:lnSpc>
            </a:pPr>
            <a:r>
              <a:rPr lang="en-US" sz="1700" dirty="0"/>
              <a:t>Sample D2 = </a:t>
            </a:r>
            <a:r>
              <a:rPr lang="en-US" sz="1700" b="1" dirty="0"/>
              <a:t>Not Detected</a:t>
            </a:r>
            <a:endParaRPr lang="en-US" sz="1700" dirty="0"/>
          </a:p>
          <a:p>
            <a:pPr lvl="1">
              <a:lnSpc>
                <a:spcPct val="150000"/>
              </a:lnSpc>
            </a:pPr>
            <a:r>
              <a:rPr lang="en-US" sz="1700" dirty="0"/>
              <a:t>Sample D3 = </a:t>
            </a:r>
            <a:r>
              <a:rPr lang="en-US" sz="1700" b="1" dirty="0"/>
              <a:t>Detected</a:t>
            </a:r>
            <a:endParaRPr lang="en-US" sz="1700" dirty="0"/>
          </a:p>
          <a:p>
            <a:pPr>
              <a:lnSpc>
                <a:spcPct val="150000"/>
              </a:lnSpc>
            </a:pPr>
            <a:r>
              <a:rPr lang="en-US" sz="1900" dirty="0"/>
              <a:t>Click Create Expected Results after each entry.</a:t>
            </a:r>
          </a:p>
          <a:p>
            <a:pPr>
              <a:lnSpc>
                <a:spcPct val="150000"/>
              </a:lnSpc>
            </a:pPr>
            <a:r>
              <a:rPr lang="en-US" sz="1900" b="1" dirty="0"/>
              <a:t>Success Check:</a:t>
            </a:r>
            <a:r>
              <a:rPr lang="en-US" sz="1900" dirty="0"/>
              <a:t> Search for your round. You should see a list with all three samples and their expected results.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03858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EFB0-7E2C-02E0-1BB4-F6ABD540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b="1" dirty="0"/>
              <a:t>Module 3 - Activating a Round &amp; Managing Applications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D689A-FEF7-7B46-4FF9-386FCDD3E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Purpose:</a:t>
            </a:r>
            <a:r>
              <a:rPr lang="en-US" sz="1800" dirty="0"/>
              <a:t> To officially enroll laboratories and then prepare for sample distribution to those labs.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PART ONE: Review &amp; Approve Applications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b="1" dirty="0"/>
              <a:t>Path:</a:t>
            </a:r>
            <a:r>
              <a:rPr lang="en-US" dirty="0"/>
              <a:t> EQA Management &gt; PT Enrolled Applicant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Action:</a:t>
            </a:r>
            <a:r>
              <a:rPr lang="en-US" dirty="0"/>
              <a:t> Review each laboratory's application. Click Approve Enrollment to officially accept them into the round.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Only approved labs</a:t>
            </a:r>
            <a:r>
              <a:rPr lang="en-US" dirty="0"/>
              <a:t> will receive samples and Track IDs.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87418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A1E1-8A00-FC3C-5C35-010BE014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3 - Activating a Round &amp; Managing Applications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C5FBE-9229-58E3-D718-B60565D4F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PART TWO: Activate the Round (Generate Track IDs)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b="1" dirty="0"/>
              <a:t>Path:</a:t>
            </a:r>
            <a:r>
              <a:rPr lang="en-US" dirty="0"/>
              <a:t> EQA Management &gt; PT Scheme Round &gt; [Your Round] &gt; </a:t>
            </a:r>
            <a:r>
              <a:rPr lang="en-US" b="1" dirty="0"/>
              <a:t>View</a:t>
            </a:r>
            <a:r>
              <a:rPr lang="en-US" dirty="0"/>
              <a:t> &gt; Generate Track ID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Action:</a:t>
            </a:r>
            <a:r>
              <a:rPr lang="en-US" dirty="0"/>
              <a:t> Click the </a:t>
            </a:r>
            <a:r>
              <a:rPr lang="en-US" sz="1700" b="1" dirty="0">
                <a:solidFill>
                  <a:srgbClr val="514843"/>
                </a:solidFill>
              </a:rPr>
              <a:t>Generate Track IDs</a:t>
            </a:r>
            <a:r>
              <a:rPr lang="en-US" dirty="0"/>
              <a:t>. The system will generate Track IDs </a:t>
            </a:r>
            <a:r>
              <a:rPr lang="en-US" b="1" dirty="0"/>
              <a:t>based on: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The number of samples in the round (e.g., D1, D2, D3).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The number of approved applicants.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This action makes the round LIVE.</a:t>
            </a:r>
            <a:r>
              <a:rPr lang="en-US" dirty="0"/>
              <a:t> Approved labs can now see the round and their assigned sample labels in their accounts.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10652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F0BA-8C38-B232-3EB8-6644C11D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3 - Activating a Round &amp; Managing Applications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9E598-1DDE-B41E-6951-BCA507C08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Hands-On Exercise 6: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dirty="0"/>
              <a:t>Navigate to PT Enrolled Applicant and approve the application from </a:t>
            </a:r>
            <a:r>
              <a:rPr lang="en-US" b="1" dirty="0"/>
              <a:t>Kibosho HC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Go to your HEID-TEST-2025 round, and click Generate Track ID.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Objective: Complete the shipment workflow in the correct order</a:t>
            </a:r>
            <a:endParaRPr lang="en-US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96971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C582E-7563-3344-A860-7439938A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4 - The Evaluation Engine: Marking Results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CF0ED-DF16-1240-E7C1-F176A47C0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Automated Scoring in Action.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Path:</a:t>
            </a:r>
            <a:r>
              <a:rPr lang="en-US" sz="1800" dirty="0"/>
              <a:t> EQA Management &gt; Mark PT Round Results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Process: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dirty="0"/>
              <a:t>Select the completed round (HEID-TEST-2025).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Click </a:t>
            </a:r>
            <a:r>
              <a:rPr lang="en-US" b="1" dirty="0"/>
              <a:t>"Mark Result for Selected Round"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System Action:</a:t>
            </a:r>
            <a:r>
              <a:rPr lang="en-US" dirty="0"/>
              <a:t> Instantly compares every lab's submitted results against your </a:t>
            </a:r>
            <a:r>
              <a:rPr lang="en-US" b="1" dirty="0"/>
              <a:t>Expected Results (Answer Key)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Automatically assigns a </a:t>
            </a:r>
            <a:r>
              <a:rPr lang="en-US" b="1" dirty="0"/>
              <a:t>Pass</a:t>
            </a:r>
            <a:r>
              <a:rPr lang="en-US" dirty="0"/>
              <a:t> or </a:t>
            </a:r>
            <a:r>
              <a:rPr lang="en-US" b="1" dirty="0"/>
              <a:t>Fail</a:t>
            </a:r>
            <a:r>
              <a:rPr lang="en-US" dirty="0"/>
              <a:t> score to each sample for each lab.</a:t>
            </a:r>
          </a:p>
          <a:p>
            <a:pPr marL="0" indent="0">
              <a:buNone/>
            </a:pPr>
            <a:r>
              <a:rPr lang="en-US" sz="1900" b="1" dirty="0"/>
              <a:t>The Coordinator's Power:</a:t>
            </a:r>
            <a:r>
              <a:rPr lang="en-US" sz="1900" dirty="0"/>
              <a:t> You evaluate an entire round of labs with a single click.</a:t>
            </a:r>
            <a:endParaRPr lang="en-TZ" sz="1900" dirty="0"/>
          </a:p>
        </p:txBody>
      </p:sp>
    </p:spTree>
    <p:extLst>
      <p:ext uri="{BB962C8B-B14F-4D97-AF65-F5344CB8AC3E}">
        <p14:creationId xmlns:p14="http://schemas.microsoft.com/office/powerpoint/2010/main" val="181240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E09E-C092-1364-7BC9-4275AC74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4 - The Evaluation Engine: Marking Results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A9F0C-13D8-AF36-4181-6E2B863E2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Hands-On Exercise: Run the Evaluation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dirty="0"/>
              <a:t>In the training system, results have been simulated for your HEID-TEST-2025 round.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Navigate to Mark PT Round Results.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Select the HEID-TEST-2025 round and click </a:t>
            </a:r>
            <a:r>
              <a:rPr lang="en-US" b="1" dirty="0"/>
              <a:t>"Mark Result for Selected Round"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Confirm the success message: </a:t>
            </a:r>
            <a:r>
              <a:rPr lang="en-US" i="1" dirty="0"/>
              <a:t>"Success, Marked PT round result successfully."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Success Check:</a:t>
            </a:r>
            <a:r>
              <a:rPr lang="en-US" dirty="0"/>
              <a:t> Go to Pending Results. You should now see the scored results awaiting your final authorization.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7371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4BA9-A066-AEB3-48ED-BAF6CF40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4 - Authorizing &amp; Releasing Feedback</a:t>
            </a:r>
            <a:br>
              <a:rPr lang="en-US" dirty="0"/>
            </a:b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F51-16A7-326E-027D-B2CFD9A70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Finalizing the Cycle.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/>
              <a:t>Path:</a:t>
            </a:r>
            <a:r>
              <a:rPr lang="en-US" sz="1800" dirty="0"/>
              <a:t> EQA Management &gt; Pending Results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Process: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dirty="0"/>
              <a:t>Review auto-marked results.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Select all samples of that scheme: HIV-TEST-2025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Click </a:t>
            </a:r>
            <a:r>
              <a:rPr lang="en-US" b="1" dirty="0"/>
              <a:t>"Accept Selected"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Result:</a:t>
            </a:r>
            <a:r>
              <a:rPr lang="en-US" sz="1800" dirty="0"/>
              <a:t> Instant feedback is released to labs. They see </a:t>
            </a:r>
            <a:r>
              <a:rPr lang="en-US" sz="1800" b="1" dirty="0"/>
              <a:t>Pass/Fail</a:t>
            </a:r>
            <a:r>
              <a:rPr lang="en-US" sz="1800" dirty="0"/>
              <a:t> status immediately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85276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60E78-76C3-CE33-7BF9-55DAC61E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4 - Reporting for Insight &amp; Action</a:t>
            </a:r>
            <a:br>
              <a:rPr lang="en-US" dirty="0"/>
            </a:b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AC9A7-5669-A9BC-0933-13611DA5A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Purpose:</a:t>
            </a:r>
            <a:r>
              <a:rPr lang="en-US" sz="1800" dirty="0"/>
              <a:t> To transform operational data into actionable intelligence for quality improvement.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Key Reports for Operational Tracking: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b="1" dirty="0"/>
              <a:t>Pending Results:</a:t>
            </a:r>
            <a:r>
              <a:rPr lang="en-US" dirty="0"/>
              <a:t> List of unevaluated submissions.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Submitted Results:</a:t>
            </a:r>
            <a:r>
              <a:rPr lang="en-US" dirty="0"/>
              <a:t> Complete list of all received results.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Results by Facility:</a:t>
            </a:r>
            <a:r>
              <a:rPr lang="en-US" dirty="0"/>
              <a:t> Performance summary per laboratory.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Track ID Results:</a:t>
            </a:r>
            <a:r>
              <a:rPr lang="en-US" dirty="0"/>
              <a:t> Detailed history for a specific sample batch.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Shipment Report:</a:t>
            </a:r>
            <a:r>
              <a:rPr lang="en-US" dirty="0"/>
              <a:t> Log of sample distribution and status.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57153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12B61-BEF2-FAEE-C075-1DC66B54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b="1" dirty="0"/>
              <a:t>Module 4 - Reporting for Insight &amp; Action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5BF80-8E6E-F809-BC24-7529603F6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Key Reports for Performance Analysis: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b="1" dirty="0"/>
              <a:t>Submission Rate Report:</a:t>
            </a:r>
            <a:r>
              <a:rPr lang="en-US" dirty="0"/>
              <a:t> Tracks laboratory timeliness and compliance.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PT Report Summary:</a:t>
            </a:r>
            <a:r>
              <a:rPr lang="en-US" dirty="0"/>
              <a:t> High-level overview of a round's overall performance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16834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E1113-ECAB-1C1C-6335-7588FD91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 QUIZ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53B-17F9-6CF1-7D76-0A714DCC60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What is the single most important configuration step that must be accurate before activating a PT round?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Setting the calendar event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Creating the scheme name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Entering the Expected Results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Choosing the maximum score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EBF6C-FC11-21D8-B727-484DF8DF28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1800" dirty="0"/>
              <a:t>What is the effect of clicking "Generate Track ID" for a PT Round?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It prints shipping labels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It creates a master tracking number for reports.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It activates the round, making it visible to enrolled labs.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It locks the round so no changes can be made.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87000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0D7F-F3CE-A6F5-E52C-856AD6D4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 QUIZ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FA1B-62B7-600E-5B98-096AB866B1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TZ" sz="1800" dirty="0"/>
              <a:t>Where does an EQA Coordinator go to approve a laboratory's application to participate?</a:t>
            </a:r>
            <a:endParaRPr lang="en-US" sz="1800" dirty="0"/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TZ" sz="1800" dirty="0"/>
              <a:t>Manage Users</a:t>
            </a:r>
            <a:endParaRPr lang="en-US" sz="1800" dirty="0"/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TZ" sz="1800" dirty="0"/>
              <a:t>PT Enrolled Applicant</a:t>
            </a:r>
            <a:endParaRPr lang="en-US" sz="1800" dirty="0"/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TZ" sz="1800" dirty="0"/>
              <a:t>Submitted PT Results</a:t>
            </a:r>
            <a:endParaRPr lang="en-US" sz="1800" dirty="0"/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TZ" sz="1800" dirty="0"/>
              <a:t>PT Scheme</a:t>
            </a:r>
          </a:p>
          <a:p>
            <a:endParaRPr lang="en-T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A5FDA-C3E0-BDC0-F4D4-87F6A556D7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sz="1800" dirty="0"/>
              <a:t>The process of automatically comparing lab results to the expected results is called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Authorizing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Marking Results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Reporting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Validating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83108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8EF4-69AF-9B3A-7248-FFBB954F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 QUIZ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52C5-A745-948A-A397-5CC904BC1A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sz="1800" dirty="0"/>
              <a:t>True or False: After marking results, labs can see their Pass/Fail status immediately.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True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800" dirty="0"/>
              <a:t>False</a:t>
            </a:r>
          </a:p>
          <a:p>
            <a:endParaRPr lang="en-T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9B2CE-BF48-4C58-774C-69E5303B45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en-US" sz="1600" dirty="0"/>
              <a:t>If you make a mistake when entering the Expected Results (Answer Key), you can edit them even after labs have submitted their results, but you must re-run the "Mark Result" process for the scores to update.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600" b="1" dirty="0"/>
              <a:t>True</a:t>
            </a:r>
            <a:endParaRPr lang="en-US" sz="1600" dirty="0"/>
          </a:p>
          <a:p>
            <a:pPr marL="1257300" lvl="2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600" b="1" dirty="0"/>
              <a:t>False</a:t>
            </a:r>
            <a:endParaRPr lang="en-US" sz="1600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9479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4BF7-3F91-ECB9-A6AA-A8B51F38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85800" marR="0" lvl="1" indent="-228600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tabLst/>
              <a:defRPr/>
            </a:pPr>
            <a:r>
              <a:rPr lang="en-US" sz="2800" dirty="0"/>
              <a:t>SIMULATION SCENARIO</a:t>
            </a:r>
            <a:endParaRPr lang="en-TZ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F86E-B661-161E-289E-C576F81BB2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Your Mission:</a:t>
            </a:r>
            <a:r>
              <a:rPr lang="en-US" sz="1800" dirty="0"/>
              <a:t> You are responsible for the year's key PT cycles. Manage the process from setup to evaluation.</a:t>
            </a:r>
            <a:br>
              <a:rPr lang="en-US" sz="1800" dirty="0"/>
            </a:br>
            <a:r>
              <a:rPr lang="en-US" sz="1800" b="1" dirty="0"/>
              <a:t>Background:</a:t>
            </a:r>
            <a:r>
              <a:rPr lang="en-US" sz="1800" dirty="0"/>
              <a:t> Two schemes need to be run: </a:t>
            </a:r>
            <a:r>
              <a:rPr lang="en-US" sz="1800" b="1" dirty="0"/>
              <a:t>HEID-TEST-2025</a:t>
            </a:r>
            <a:r>
              <a:rPr lang="en-US" sz="1800" dirty="0"/>
              <a:t> and </a:t>
            </a:r>
            <a:r>
              <a:rPr lang="en-US" sz="1800" b="1" dirty="0"/>
              <a:t>HIV-TEST-2025</a:t>
            </a:r>
            <a:r>
              <a:rPr lang="en-US" sz="1800" dirty="0"/>
              <a:t>. Three labs (</a:t>
            </a:r>
            <a:r>
              <a:rPr lang="en-US" sz="1800" b="1" dirty="0"/>
              <a:t>Kibosho HC, Aghakan Hospital, Igala HC</a:t>
            </a:r>
            <a:r>
              <a:rPr lang="en-US" sz="1800" dirty="0"/>
              <a:t>) are expected to participate.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Your Tasks in the Sandbox:</a:t>
            </a:r>
          </a:p>
          <a:p>
            <a:pPr lvl="1"/>
            <a:r>
              <a:rPr lang="en-US" sz="1800" b="1" dirty="0"/>
              <a:t>Onboard a New Lab Manager: </a:t>
            </a:r>
            <a:r>
              <a:rPr lang="en-US" sz="1800" dirty="0"/>
              <a:t>Create a three-user profile for each mention facility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endParaRPr lang="en-T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C6C2D-E5A6-FD98-9346-13571300AE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b="1" dirty="0"/>
              <a:t>Verify &amp; Configure:</a:t>
            </a:r>
            <a:r>
              <a:rPr lang="en-US" dirty="0"/>
              <a:t> Ensure the HEID-TEST-2025 and HIV-TEST-2025 schemes and their rounds exist. If not, create them using the data from the slides.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Set the Expected Results:</a:t>
            </a:r>
            <a:r>
              <a:rPr lang="en-US" dirty="0"/>
              <a:t> For the HEID-TEST-2025 round, configure ALL Expected Results: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Sample D1 = </a:t>
            </a:r>
            <a:r>
              <a:rPr lang="en-US" sz="1600" b="1" dirty="0"/>
              <a:t>Detected</a:t>
            </a:r>
            <a:endParaRPr lang="en-US" sz="1600" dirty="0"/>
          </a:p>
          <a:p>
            <a:pPr lvl="2">
              <a:lnSpc>
                <a:spcPct val="150000"/>
              </a:lnSpc>
            </a:pPr>
            <a:r>
              <a:rPr lang="en-US" sz="1600" dirty="0"/>
              <a:t>Sample D2 = </a:t>
            </a:r>
            <a:r>
              <a:rPr lang="en-US" sz="1600" b="1" dirty="0"/>
              <a:t>Not Detected</a:t>
            </a:r>
            <a:endParaRPr lang="en-US" sz="1600" dirty="0"/>
          </a:p>
          <a:p>
            <a:pPr lvl="2">
              <a:lnSpc>
                <a:spcPct val="150000"/>
              </a:lnSpc>
            </a:pPr>
            <a:r>
              <a:rPr lang="en-US" sz="1600" dirty="0"/>
              <a:t>Sample D3 = </a:t>
            </a:r>
            <a:r>
              <a:rPr lang="en-US" sz="1600" b="1" dirty="0"/>
              <a:t>Detected</a:t>
            </a:r>
            <a:endParaRPr lang="en-US" sz="1600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19182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0F2E-2806-0EB2-602B-5BF09EB03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SIMULATION SCENARIO cont..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2A4CA-0A7B-6A84-CFC0-2A0D64041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Launch:</a:t>
            </a:r>
            <a:r>
              <a:rPr lang="en-US" sz="1800" dirty="0"/>
              <a:t> Activate the </a:t>
            </a:r>
            <a:r>
              <a:rPr lang="en-US" sz="1800" b="1" dirty="0"/>
              <a:t>HEID-TEST-2025</a:t>
            </a:r>
            <a:r>
              <a:rPr lang="en-US" sz="1800" dirty="0"/>
              <a:t> round (Generate Track ID).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Manage Participants:</a:t>
            </a:r>
            <a:r>
              <a:rPr lang="en-US" sz="1800" dirty="0"/>
              <a:t> Approve the pending applications from </a:t>
            </a:r>
            <a:r>
              <a:rPr lang="en-US" sz="1800" b="1" dirty="0"/>
              <a:t>Kibosho HC</a:t>
            </a:r>
            <a:r>
              <a:rPr lang="en-US" sz="1800" dirty="0"/>
              <a:t> and </a:t>
            </a:r>
            <a:r>
              <a:rPr lang="en-US" sz="1800" b="1" dirty="0"/>
              <a:t>Aghakan Hospital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Evaluate:</a:t>
            </a:r>
            <a:r>
              <a:rPr lang="en-US" sz="1800" dirty="0"/>
              <a:t> Once the system shows submitted results (the facilitator will simulate this), run the </a:t>
            </a:r>
            <a:r>
              <a:rPr lang="en-US" sz="1800" b="1" dirty="0"/>
              <a:t>"Mark Result"</a:t>
            </a:r>
            <a:r>
              <a:rPr lang="en-US" sz="1800" dirty="0"/>
              <a:t> process for the HEID-TEST-2025 round.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Report:</a:t>
            </a:r>
            <a:r>
              <a:rPr lang="en-US" sz="1800" dirty="0"/>
              <a:t> Generate a </a:t>
            </a:r>
            <a:r>
              <a:rPr lang="en-US" sz="1800" b="1" dirty="0"/>
              <a:t>"Results by Facility"</a:t>
            </a:r>
            <a:r>
              <a:rPr lang="en-US" sz="1800" dirty="0"/>
              <a:t> report for the HEID-TEST-2025 round. Be ready to explain one insight from it.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75392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291</TotalTime>
  <Words>2212</Words>
  <Application>Microsoft Office PowerPoint</Application>
  <PresentationFormat>Widescreen</PresentationFormat>
  <Paragraphs>223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Euphemia</vt:lpstr>
      <vt:lpstr>Plantagenet Cherokee</vt:lpstr>
      <vt:lpstr>Wingdings</vt:lpstr>
      <vt:lpstr>Academic Literature 16x9</vt:lpstr>
      <vt:lpstr>EQA Digital Platform: Coordinator Training</vt:lpstr>
      <vt:lpstr>Workshop Agenda &amp; Objectives</vt:lpstr>
      <vt:lpstr>Workshop Agenda &amp; Objectives cont..</vt:lpstr>
      <vt:lpstr>Module 1 - The Coordinator's Command Center</vt:lpstr>
      <vt:lpstr>Module 2 – Managing users</vt:lpstr>
      <vt:lpstr>Module 2 – Managing users cont..</vt:lpstr>
      <vt:lpstr>Module 2 – Managing users cont..</vt:lpstr>
      <vt:lpstr>Module 2 - Building Your PT Program: Schemes</vt:lpstr>
      <vt:lpstr> Module 2: Configuring the Scheme - Setting Allowable Results &amp; Template cont..</vt:lpstr>
      <vt:lpstr>Module 2: Configuring the Scheme - Setting Allowable Results and Template</vt:lpstr>
      <vt:lpstr>Module 2: Configuring the Scheme - Setting Allowable Results &amp; Template cont..</vt:lpstr>
      <vt:lpstr>  Module 2 - The PT Calendar</vt:lpstr>
      <vt:lpstr>Module 2 - Creating a PT Round</vt:lpstr>
      <vt:lpstr>Module 2 - Creating a PT Round cont..</vt:lpstr>
      <vt:lpstr>  Module 3 - Setting the "Answer Key" (Expected Results)</vt:lpstr>
      <vt:lpstr>Module 3 - Setting the "Answer Key" (Expected Results) cont..</vt:lpstr>
      <vt:lpstr> Module 3 - Activating a Round &amp; Managing Applications</vt:lpstr>
      <vt:lpstr>Module 3 - Activating a Round &amp; Managing Applications cont..</vt:lpstr>
      <vt:lpstr>Module 3 - Activating a Round &amp; Managing Applications cont..</vt:lpstr>
      <vt:lpstr>Module 4 - The Evaluation Engine: Marking Results</vt:lpstr>
      <vt:lpstr>Module 4 - The Evaluation Engine: Marking Results</vt:lpstr>
      <vt:lpstr>Module 4 - Authorizing &amp; Releasing Feedback </vt:lpstr>
      <vt:lpstr>Module 4 - Reporting for Insight &amp; Action </vt:lpstr>
      <vt:lpstr> Module 4 - Reporting for Insight &amp; Action cont..</vt:lpstr>
      <vt:lpstr>ASSESSMENT QUIZ</vt:lpstr>
      <vt:lpstr>ASSESSMENT QUIZ</vt:lpstr>
      <vt:lpstr>ASSESSMENT QUIZ</vt:lpstr>
      <vt:lpstr>SIMULATION SCENARIO</vt:lpstr>
      <vt:lpstr>SIMULATION SCENARIO cont..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Beatrice Clemence</dc:creator>
  <cp:lastModifiedBy>Beatrice Clemence</cp:lastModifiedBy>
  <cp:revision>3</cp:revision>
  <dcterms:created xsi:type="dcterms:W3CDTF">2025-12-08T04:50:51Z</dcterms:created>
  <dcterms:modified xsi:type="dcterms:W3CDTF">2025-12-08T09:48:46Z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